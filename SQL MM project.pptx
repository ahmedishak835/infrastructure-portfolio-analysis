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15"/>
  </p:notesMasterIdLst>
  <p:sldIdLst>
    <p:sldId id="263" r:id="rId2"/>
    <p:sldId id="264" r:id="rId3"/>
    <p:sldId id="257" r:id="rId4"/>
    <p:sldId id="256" r:id="rId5"/>
    <p:sldId id="260" r:id="rId6"/>
    <p:sldId id="261" r:id="rId7"/>
    <p:sldId id="262"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592"/>
  </p:normalViewPr>
  <p:slideViewPr>
    <p:cSldViewPr snapToGrid="0" snapToObjects="1">
      <p:cViewPr>
        <p:scale>
          <a:sx n="112" d="100"/>
          <a:sy n="112"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29T12:46:05.99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1546 177,'-71'0,"12"0,12 0,-11 0,-3 0,-8 0,1 0,4 0,21 0,-7 0,16 6,-6 1,6 7,-1 5,-5 2,6-1,-1 13,-5-11,4 12,-7 14,-2 4,-2-1,5 3,4-1,10-11,6-1,-5 8,5 3,-7-1,-1 6,2-5,-2 7,0 0,7-8,-5 7,13-15,-7 14,8-13,-1 13,8-6,0 9,7 8,0-16,0 1,0 35,0-31,0 0,0 22,0 0,0 0,0-25,0-2,0 17,0 15,0-49,0-9,0-8,0 33,-15 11,13-9,0 5,-5-1,-1 0,7 4,2 3,-1 14,0 6,0-8,0 5,0-4,-1 16,2 1,6-7,2 4,3-7,3-3,4-4,-1-13,3 1,0-1,8 20,1-2,2-4,2-1,1 1,-1-3,-5-18,-2-3,1 6,-2-4,3 6,2 4,-3-15,-5-7,3 15,-12-35,4 13,-11-26,3 1,13-5,6-2,16-5,-4 0,9 0,1 0,8 0,1 0,-1 0,-8 0,-2 0,19 0,-12 0,14 6,-21 2,-8 5,1 1,-1 0,5-1,-4 1,-3-7,-6 5,-1-11,-5 11,6-11,-8 5,1-6,-7 0,-1 0,82 0,-49 0,6 0,36 0,6 0,-9 0,-1 0,0 0,0 0,1 0,-1 0,-5 0,-1 0,-8 0,1 0,-10 0,3 0,0 0,-1 0,1 0,2 0,13 0,4 0,0 0,-2-1,0 0,-2 3,-12 2,-1 3,-1-1,1 0,-1 1,-5 2,4 8,-3 3,7-2,-2 0,23 15,-43-19,-1-1,30 10,-12-14,-13-5,3-2,-8-5,2-2,21 1,2-2,-6-2,-1-2,-5-2,2-2,8 0,2-1,-6-3,1-1,4 4,3 1,16-6,4 1,-31 8,0 0,3 0,17 0,4 0,-4 0,-16 0,-2 0,0 2,4 4,1 2,-6 0,-1-2,-4 1,2 4,-4 0,22 0,-12 0,-21 0,19 0,6-22,-24 13,1-3,5-15,3-6,17-1,5-4,-22 8,2-2,-1 0,24-14,1-1,-16 13,2-1,-4-1,11-14,-1 0,-10 13,3 1,-5 0,2-5,-3 2,13-4,-5 2,6-10,-26 23,-1 1,23-28,-9 18,-26 7,4 11,2 14,8-8,24-5,-15-12,6 0,-9 6,19-13,-6 4,-28 9,1-1,-1 1,1-1,5-5,0 0,-7 3,0 1,2 0,-3 1,21-21,-10 8,8-17,-29 28,33-1,-16 14,40-4,2-15,-25 11,3-1,2-5,3-1,-12 8,3 0,0-1,27-13,-2 2,-16 7,0 3,5-1,-3 1,-27 6,-1 1,14-3,-1 2,21-2,-4-2,-34 13,-3 0,-17 3,-4 5,-3 0,0 0,-4 0,9 0,-9 0,4 0,-5-37,-6 1,0-34,-6 19,0 1,0-8,6 4,-4-14,11 9,-12-10,6 8,-7-26,0 31,0-12,0 34,0-6,0-3,-21-10,-6-8,-20-3,-10-8,-1-3,8 9,-4-4,15 16,-7-1,0 2,-7 1,0 12,7-3,-29 4,26 9,-21-8,4 7,4-6,-9 5,-6-7,20 9,-1 0,13 7,-1 0,-17-18,0 3,-17 9,-11 6,0 33,42-5,-3-1,-28 0,-4-1,3 0,-2-6,-11-10,-1-7,4-2,4-9,9-15,5-8,1-4,2-4,-4-6,7 3,28 24,0 4,-9 1,-5 11,4 21,-4 8,-30-4,-6 0,6 0,-7 0,17-3,-8 0,-2-1,4 2,-5 0,3 2,-7-1,10-2,-6 1,-3-1,1 0,7 1,-18 2,6 0,2 0,7 2,2-1,5 3,-7 2,9 5,-12 22,33-15,2 0,-22 20,14-9,16-1,13-2,-2-5,11-2,-6-12,1-2,-2-23,7 13,-12-13,4 18,-14 0,1 6,-1 2,1 5,-1-5,1 4,-1-10,1 4,6 0,3-5,-1 5,0-6,-8 0,8 0,1 0,-5 0,8 0,-2 0,13 0,6 0,-5 0,-8 0,-1 0,1 0,1 0,-2 0,-2 0,-12 0,13-6,-13-2,6-5,-8-1,-7-7,5 5,-13-12,13 7,-13-9,13 8,-5-5,14 12,-4-5,11 7,-4-6,5-8,-1-15,6-18,-20 24,2 1,-11 47,1-2,1 10,5 0,-13-4,-5 10,8-4,-14 0,24-2,-5-6,0 0,-3 0,-7 1,-1 0,1 0,7-1,3-6,7 4,8-10,-6 4,13-6,-13 0,13 0,-21 0,-26 0,8 0,12 0,1 0,-20 0,-26 0,17 0,-16 0,16 0,27 0,1 0,-14 0,-27 7,32 2,-16-1,27 2,-1 1,-33-1,-11 12,29-13,8 4,9-12,1 6,-10-7,21 0,-19 0,22-20,-1-20,-2-44,15 35,-19-7,4 56,-20 0,0 0,-1 0,9 0,1 0,9 0,6 0,3 6,6-5,0 11,7-11,-5 10,10-4,-4 0,6 4,-11-5,2 1,-17-1,11-1,-6-3,7 9,7-9,-5 3,10-5,-4 0,6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390E-F516-414E-B90C-07D62D52B89A}" type="datetimeFigureOut">
              <a:rPr lang="en-US" smtClean="0"/>
              <a:t>10/30/25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E832C-8982-214C-9CB3-84D2DFBACB6C}" type="slidenum">
              <a:rPr lang="en-US" smtClean="0"/>
              <a:t>‹#›</a:t>
            </a:fld>
            <a:endParaRPr lang="en-US"/>
          </a:p>
        </p:txBody>
      </p:sp>
    </p:spTree>
    <p:extLst>
      <p:ext uri="{BB962C8B-B14F-4D97-AF65-F5344CB8AC3E}">
        <p14:creationId xmlns:p14="http://schemas.microsoft.com/office/powerpoint/2010/main" val="2579167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EE832C-8982-214C-9CB3-84D2DFBACB6C}" type="slidenum">
              <a:rPr lang="en-US" smtClean="0"/>
              <a:t>4</a:t>
            </a:fld>
            <a:endParaRPr lang="en-US"/>
          </a:p>
        </p:txBody>
      </p:sp>
    </p:spTree>
    <p:extLst>
      <p:ext uri="{BB962C8B-B14F-4D97-AF65-F5344CB8AC3E}">
        <p14:creationId xmlns:p14="http://schemas.microsoft.com/office/powerpoint/2010/main" val="619777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BC89BB9-74CA-254D-93E1-F161D54A41A5}" type="datetimeFigureOut">
              <a:rPr lang="en-US" smtClean="0"/>
              <a:t>10/30/25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3189914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C89BB9-74CA-254D-93E1-F161D54A41A5}" type="datetimeFigureOut">
              <a:rPr lang="en-US" smtClean="0"/>
              <a:t>10/30/25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4052088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BC89BB9-74CA-254D-93E1-F161D54A41A5}" type="datetimeFigureOut">
              <a:rPr lang="en-US" smtClean="0"/>
              <a:t>10/30/25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1428468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C89BB9-74CA-254D-93E1-F161D54A41A5}" type="datetimeFigureOut">
              <a:rPr lang="en-US" smtClean="0"/>
              <a:t>10/30/25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1230615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BC89BB9-74CA-254D-93E1-F161D54A41A5}" type="datetimeFigureOut">
              <a:rPr lang="en-US" smtClean="0"/>
              <a:t>10/30/25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3119426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BC89BB9-74CA-254D-93E1-F161D54A41A5}" type="datetimeFigureOut">
              <a:rPr lang="en-US" smtClean="0"/>
              <a:t>10/30/25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1593520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BC89BB9-74CA-254D-93E1-F161D54A41A5}" type="datetimeFigureOut">
              <a:rPr lang="en-US" smtClean="0"/>
              <a:t>10/30/25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1867108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C89BB9-74CA-254D-93E1-F161D54A41A5}" type="datetimeFigureOut">
              <a:rPr lang="en-US" smtClean="0"/>
              <a:t>10/30/25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3788612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C89BB9-74CA-254D-93E1-F161D54A41A5}" type="datetimeFigureOut">
              <a:rPr lang="en-US" smtClean="0"/>
              <a:t>10/30/25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449955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C89BB9-74CA-254D-93E1-F161D54A41A5}" type="datetimeFigureOut">
              <a:rPr lang="en-US" smtClean="0"/>
              <a:t>10/30/25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359314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C89BB9-74CA-254D-93E1-F161D54A41A5}" type="datetimeFigureOut">
              <a:rPr lang="en-US" smtClean="0"/>
              <a:t>10/30/25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310871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C89BB9-74CA-254D-93E1-F161D54A41A5}" type="datetimeFigureOut">
              <a:rPr lang="en-US" smtClean="0"/>
              <a:t>10/30/25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4F337E-9B07-DA40-8962-591245AF98C9}"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3995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BC89BB9-74CA-254D-93E1-F161D54A41A5}" type="datetimeFigureOut">
              <a:rPr lang="en-US" smtClean="0"/>
              <a:t>10/30/25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471924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BC89BB9-74CA-254D-93E1-F161D54A41A5}" type="datetimeFigureOut">
              <a:rPr lang="en-US" smtClean="0"/>
              <a:t>10/30/25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618067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BC89BB9-74CA-254D-93E1-F161D54A41A5}" type="datetimeFigureOut">
              <a:rPr lang="en-US" smtClean="0"/>
              <a:t>10/30/25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725622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C89BB9-74CA-254D-93E1-F161D54A41A5}" type="datetimeFigureOut">
              <a:rPr lang="en-US" smtClean="0"/>
              <a:t>10/30/25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2692849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C89BB9-74CA-254D-93E1-F161D54A41A5}" type="datetimeFigureOut">
              <a:rPr lang="en-US" smtClean="0"/>
              <a:t>10/30/25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42073428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BC89BB9-74CA-254D-93E1-F161D54A41A5}" type="datetimeFigureOut">
              <a:rPr lang="en-US" smtClean="0"/>
              <a:t>10/30/25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4F337E-9B07-DA40-8962-591245AF98C9}" type="slidenum">
              <a:rPr lang="en-US" smtClean="0"/>
              <a:t>‹#›</a:t>
            </a:fld>
            <a:endParaRPr lang="en-US"/>
          </a:p>
        </p:txBody>
      </p:sp>
    </p:spTree>
    <p:extLst>
      <p:ext uri="{BB962C8B-B14F-4D97-AF65-F5344CB8AC3E}">
        <p14:creationId xmlns:p14="http://schemas.microsoft.com/office/powerpoint/2010/main" val="207553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BC89BB9-74CA-254D-93E1-F161D54A41A5}" type="datetimeFigureOut">
              <a:rPr lang="en-US" smtClean="0"/>
              <a:t>10/30/25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F4F337E-9B07-DA40-8962-591245AF98C9}" type="slidenum">
              <a:rPr lang="en-US" smtClean="0"/>
              <a:t>‹#›</a:t>
            </a:fld>
            <a:endParaRPr lang="en-US"/>
          </a:p>
        </p:txBody>
      </p:sp>
    </p:spTree>
    <p:extLst>
      <p:ext uri="{BB962C8B-B14F-4D97-AF65-F5344CB8AC3E}">
        <p14:creationId xmlns:p14="http://schemas.microsoft.com/office/powerpoint/2010/main" val="69706499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0.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243D96-05B8-C049-A147-3F5DFB05A7CD}"/>
              </a:ext>
            </a:extLst>
          </p:cNvPr>
          <p:cNvSpPr txBox="1"/>
          <p:nvPr/>
        </p:nvSpPr>
        <p:spPr>
          <a:xfrm>
            <a:off x="3047048" y="2348776"/>
            <a:ext cx="6097904" cy="1200329"/>
          </a:xfrm>
          <a:prstGeom prst="rect">
            <a:avLst/>
          </a:prstGeom>
          <a:noFill/>
        </p:spPr>
        <p:txBody>
          <a:bodyPr wrap="square">
            <a:spAutoFit/>
          </a:bodyPr>
          <a:lstStyle/>
          <a:p>
            <a:pPr algn="ctr"/>
            <a:r>
              <a:rPr lang="en-GB" b="1" dirty="0"/>
              <a:t>Infrastructure Mock-up Portfolio Analysis: Cost, Delivery &amp; Satisfaction Mott MacDonald – Graduate Application Portfolio Prepared by: Ishak Ahmed Date: November 2025 Tools Used: SQL · Excel · PowerPoint · Power BI</a:t>
            </a:r>
            <a:endParaRPr lang="en-US" b="1" dirty="0"/>
          </a:p>
        </p:txBody>
      </p:sp>
    </p:spTree>
    <p:extLst>
      <p:ext uri="{BB962C8B-B14F-4D97-AF65-F5344CB8AC3E}">
        <p14:creationId xmlns:p14="http://schemas.microsoft.com/office/powerpoint/2010/main" val="2333927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273A-CA13-1E49-BAE3-8C27870C8BD2}"/>
              </a:ext>
            </a:extLst>
          </p:cNvPr>
          <p:cNvSpPr>
            <a:spLocks noGrp="1"/>
          </p:cNvSpPr>
          <p:nvPr>
            <p:ph type="title"/>
          </p:nvPr>
        </p:nvSpPr>
        <p:spPr>
          <a:xfrm>
            <a:off x="838200" y="0"/>
            <a:ext cx="10515600" cy="1325563"/>
          </a:xfrm>
        </p:spPr>
        <p:txBody>
          <a:bodyPr>
            <a:normAutofit/>
          </a:bodyPr>
          <a:lstStyle/>
          <a:p>
            <a:pPr algn="ctr"/>
            <a:r>
              <a:rPr lang="en-US" sz="2400" b="1" i="1" u="sng" dirty="0">
                <a:latin typeface="+mn-lt"/>
              </a:rPr>
              <a:t>Executive Summary</a:t>
            </a:r>
            <a:endParaRPr lang="en-US" sz="2400" b="1" i="1" dirty="0">
              <a:latin typeface="+mn-lt"/>
            </a:endParaRPr>
          </a:p>
        </p:txBody>
      </p:sp>
      <p:sp>
        <p:nvSpPr>
          <p:cNvPr id="5" name="TextBox 4">
            <a:extLst>
              <a:ext uri="{FF2B5EF4-FFF2-40B4-BE49-F238E27FC236}">
                <a16:creationId xmlns:a16="http://schemas.microsoft.com/office/drawing/2014/main" id="{46AFA564-0A71-B147-867C-2F88129AC439}"/>
              </a:ext>
            </a:extLst>
          </p:cNvPr>
          <p:cNvSpPr txBox="1"/>
          <p:nvPr/>
        </p:nvSpPr>
        <p:spPr>
          <a:xfrm>
            <a:off x="1817370" y="1517432"/>
            <a:ext cx="9806940" cy="3416320"/>
          </a:xfrm>
          <a:prstGeom prst="rect">
            <a:avLst/>
          </a:prstGeom>
          <a:noFill/>
        </p:spPr>
        <p:txBody>
          <a:bodyPr wrap="square">
            <a:spAutoFit/>
          </a:bodyPr>
          <a:lstStyle/>
          <a:p>
            <a:r>
              <a:rPr lang="en-GB" b="1" dirty="0"/>
              <a:t>Transport sector shows the highest cost overruns and volatility</a:t>
            </a:r>
            <a:r>
              <a:rPr lang="en-GB" dirty="0"/>
              <a:t>, with Wales projects exceeding 600% over budget.</a:t>
            </a:r>
          </a:p>
          <a:p>
            <a:r>
              <a:rPr lang="en-GB" b="1" dirty="0"/>
              <a:t>Delays significantly impact stakeholder satisfaction</a:t>
            </a:r>
            <a:r>
              <a:rPr lang="en-GB" dirty="0"/>
              <a:t>, with noticeable decline after ~180 days.</a:t>
            </a:r>
          </a:p>
          <a:p>
            <a:r>
              <a:rPr lang="en-GB" b="1" dirty="0"/>
              <a:t>Energy projects maintain high satisfaction despite varied delays</a:t>
            </a:r>
            <a:r>
              <a:rPr lang="en-GB" dirty="0"/>
              <a:t>, suggesting quality and outcomes matter more than speed.</a:t>
            </a:r>
          </a:p>
          <a:p>
            <a:r>
              <a:rPr lang="en-GB" b="1" dirty="0"/>
              <a:t>North region faces the longest average delays (114 days)</a:t>
            </a:r>
            <a:r>
              <a:rPr lang="en-GB" dirty="0"/>
              <a:t>, indicating potential process or resource bottlenecks.</a:t>
            </a:r>
          </a:p>
          <a:p>
            <a:r>
              <a:rPr lang="en-GB" b="1" dirty="0"/>
              <a:t>Recommendations</a:t>
            </a:r>
            <a:r>
              <a:rPr lang="en-GB" dirty="0"/>
              <a:t>:</a:t>
            </a:r>
          </a:p>
          <a:p>
            <a:pPr>
              <a:buFont typeface="Arial" panose="020B0604020202020204" pitchFamily="34" charset="0"/>
              <a:buChar char="•"/>
            </a:pPr>
            <a:r>
              <a:rPr lang="en-GB" dirty="0"/>
              <a:t>Strengthen early-stage cost forecasting and risk-weighted budgeting.</a:t>
            </a:r>
          </a:p>
          <a:p>
            <a:pPr>
              <a:buFont typeface="Arial" panose="020B0604020202020204" pitchFamily="34" charset="0"/>
              <a:buChar char="•"/>
            </a:pPr>
            <a:r>
              <a:rPr lang="en-GB" dirty="0"/>
              <a:t>Introduce mid-project governance gates to reduce schedule slippage.</a:t>
            </a:r>
          </a:p>
          <a:p>
            <a:pPr>
              <a:buFont typeface="Arial" panose="020B0604020202020204" pitchFamily="34" charset="0"/>
              <a:buChar char="•"/>
            </a:pPr>
            <a:r>
              <a:rPr lang="en-GB" dirty="0"/>
              <a:t>Monitor stakeholder satisfaction continuously to identify high-impact delays.</a:t>
            </a:r>
          </a:p>
          <a:p>
            <a:pPr>
              <a:buFont typeface="Arial" panose="020B0604020202020204" pitchFamily="34" charset="0"/>
              <a:buChar char="•"/>
            </a:pPr>
            <a:r>
              <a:rPr lang="en-GB" dirty="0"/>
              <a:t>Use predictive analytics to flag likely overruns and long delays before escalation.</a:t>
            </a:r>
          </a:p>
        </p:txBody>
      </p:sp>
    </p:spTree>
    <p:extLst>
      <p:ext uri="{BB962C8B-B14F-4D97-AF65-F5344CB8AC3E}">
        <p14:creationId xmlns:p14="http://schemas.microsoft.com/office/powerpoint/2010/main" val="192230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38703-8BA3-584F-BC07-E8881D92F486}"/>
              </a:ext>
            </a:extLst>
          </p:cNvPr>
          <p:cNvSpPr>
            <a:spLocks noGrp="1"/>
          </p:cNvSpPr>
          <p:nvPr>
            <p:ph type="title"/>
          </p:nvPr>
        </p:nvSpPr>
        <p:spPr>
          <a:xfrm>
            <a:off x="838200" y="1207132"/>
            <a:ext cx="10515600" cy="3306768"/>
          </a:xfrm>
        </p:spPr>
        <p:txBody>
          <a:bodyPr>
            <a:normAutofit/>
          </a:bodyPr>
          <a:lstStyle/>
          <a:p>
            <a:pPr algn="ctr"/>
            <a:br>
              <a:rPr lang="en-GB" sz="2700" b="1" i="1" u="sng" dirty="0">
                <a:latin typeface="+mn-lt"/>
              </a:rPr>
            </a:br>
            <a:r>
              <a:rPr lang="en-GB" sz="2700" b="1" i="1" u="sng" dirty="0">
                <a:latin typeface="+mn-lt"/>
              </a:rPr>
              <a:t>Project Cost, Delivery &amp; Satisfaction Analysis</a:t>
            </a:r>
            <a:br>
              <a:rPr lang="en-GB" sz="2700" b="1" i="1" u="sng" dirty="0">
                <a:latin typeface="+mn-lt"/>
              </a:rPr>
            </a:br>
            <a:r>
              <a:rPr lang="en-GB" sz="2700" b="1" i="1" u="sng" dirty="0">
                <a:latin typeface="+mn-lt"/>
              </a:rPr>
              <a:t>Subtitle:</a:t>
            </a:r>
            <a:br>
              <a:rPr lang="en-GB" sz="2700" b="1" i="1" u="sng" dirty="0">
                <a:latin typeface="+mn-lt"/>
              </a:rPr>
            </a:br>
            <a:r>
              <a:rPr lang="en-GB" sz="2700" b="1" i="1" u="sng" dirty="0">
                <a:latin typeface="+mn-lt"/>
              </a:rPr>
              <a:t>Insights Across Sectors and Regions for Mott MacDonald Infrastructure Portfolio</a:t>
            </a:r>
            <a:br>
              <a:rPr lang="en-GB" dirty="0"/>
            </a:br>
            <a:endParaRPr lang="en-US" dirty="0"/>
          </a:p>
        </p:txBody>
      </p:sp>
    </p:spTree>
    <p:extLst>
      <p:ext uri="{BB962C8B-B14F-4D97-AF65-F5344CB8AC3E}">
        <p14:creationId xmlns:p14="http://schemas.microsoft.com/office/powerpoint/2010/main" val="242037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QL">
            <a:extLst>
              <a:ext uri="{FF2B5EF4-FFF2-40B4-BE49-F238E27FC236}">
                <a16:creationId xmlns:a16="http://schemas.microsoft.com/office/drawing/2014/main" id="{C37EE0AD-9E6A-E84C-B82D-3745DAB62E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9657" y="4376057"/>
            <a:ext cx="4412343" cy="24819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17B91ACC-41D2-8640-88E3-DF5DC4083DD8}"/>
                  </a:ext>
                </a:extLst>
              </p14:cNvPr>
              <p14:cNvContentPartPr/>
              <p14:nvPr/>
            </p14:nvContentPartPr>
            <p14:xfrm>
              <a:off x="201754" y="833709"/>
              <a:ext cx="4624920" cy="1985040"/>
            </p14:xfrm>
          </p:contentPart>
        </mc:Choice>
        <mc:Fallback xmlns="">
          <p:pic>
            <p:nvPicPr>
              <p:cNvPr id="10" name="Ink 9">
                <a:extLst>
                  <a:ext uri="{FF2B5EF4-FFF2-40B4-BE49-F238E27FC236}">
                    <a16:creationId xmlns:a16="http://schemas.microsoft.com/office/drawing/2014/main" id="{17B91ACC-41D2-8640-88E3-DF5DC4083DD8}"/>
                  </a:ext>
                </a:extLst>
              </p:cNvPr>
              <p:cNvPicPr/>
              <p:nvPr/>
            </p:nvPicPr>
            <p:blipFill>
              <a:blip r:embed="rId5"/>
              <a:stretch>
                <a:fillRect/>
              </a:stretch>
            </p:blipFill>
            <p:spPr>
              <a:xfrm>
                <a:off x="148114" y="725709"/>
                <a:ext cx="4732560" cy="2200680"/>
              </a:xfrm>
              <a:prstGeom prst="rect">
                <a:avLst/>
              </a:prstGeom>
            </p:spPr>
          </p:pic>
        </mc:Fallback>
      </mc:AlternateContent>
      <p:pic>
        <p:nvPicPr>
          <p:cNvPr id="17" name="Content Placeholder 3">
            <a:extLst>
              <a:ext uri="{FF2B5EF4-FFF2-40B4-BE49-F238E27FC236}">
                <a16:creationId xmlns:a16="http://schemas.microsoft.com/office/drawing/2014/main" id="{36814422-B455-274D-92C0-7428C1575AAE}"/>
              </a:ext>
            </a:extLst>
          </p:cNvPr>
          <p:cNvPicPr>
            <a:picLocks noChangeAspect="1"/>
          </p:cNvPicPr>
          <p:nvPr/>
        </p:nvPicPr>
        <p:blipFill>
          <a:blip r:embed="rId6"/>
          <a:stretch>
            <a:fillRect/>
          </a:stretch>
        </p:blipFill>
        <p:spPr>
          <a:xfrm>
            <a:off x="0" y="-7378"/>
            <a:ext cx="4854664" cy="4351338"/>
          </a:xfrm>
          <a:prstGeom prst="rect">
            <a:avLst/>
          </a:prstGeom>
        </p:spPr>
      </p:pic>
      <p:sp>
        <p:nvSpPr>
          <p:cNvPr id="9" name="Down Arrow 8">
            <a:extLst>
              <a:ext uri="{FF2B5EF4-FFF2-40B4-BE49-F238E27FC236}">
                <a16:creationId xmlns:a16="http://schemas.microsoft.com/office/drawing/2014/main" id="{128C49C8-3B13-ED44-9F6E-D500907DABB9}"/>
              </a:ext>
            </a:extLst>
          </p:cNvPr>
          <p:cNvSpPr/>
          <p:nvPr/>
        </p:nvSpPr>
        <p:spPr>
          <a:xfrm rot="9623012">
            <a:off x="4725584" y="964821"/>
            <a:ext cx="380358" cy="1801946"/>
          </a:xfrm>
          <a:prstGeom prst="downArrow">
            <a:avLst>
              <a:gd name="adj1" fmla="val 10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3C75112A-8285-B847-B84C-AF2D17D3151B}"/>
              </a:ext>
            </a:extLst>
          </p:cNvPr>
          <p:cNvSpPr txBox="1"/>
          <p:nvPr/>
        </p:nvSpPr>
        <p:spPr>
          <a:xfrm>
            <a:off x="5735203" y="2274838"/>
            <a:ext cx="6098058" cy="2308324"/>
          </a:xfrm>
          <a:prstGeom prst="rect">
            <a:avLst/>
          </a:prstGeom>
          <a:noFill/>
        </p:spPr>
        <p:txBody>
          <a:bodyPr wrap="square">
            <a:spAutoFit/>
          </a:bodyPr>
          <a:lstStyle/>
          <a:p>
            <a:r>
              <a:rPr lang="en-GB" dirty="0"/>
              <a:t>“This query highlights sector- and region-level cost performance, showing where projects are most at risk of overruns. It aligns with the pivot table’s insight that Transport in certain regions, like South, faces significant delays and cost variances.”</a:t>
            </a:r>
          </a:p>
          <a:p>
            <a:r>
              <a:rPr lang="en-GB" dirty="0"/>
              <a:t>“Average percent over budget and cost variance help pinpoint sectors like Energy and Transport for targeted cost optimization interventions.</a:t>
            </a:r>
          </a:p>
        </p:txBody>
      </p:sp>
    </p:spTree>
    <p:extLst>
      <p:ext uri="{BB962C8B-B14F-4D97-AF65-F5344CB8AC3E}">
        <p14:creationId xmlns:p14="http://schemas.microsoft.com/office/powerpoint/2010/main" val="3348366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B01B10-1CD2-6443-9438-C88CF51D8C47}"/>
              </a:ext>
            </a:extLst>
          </p:cNvPr>
          <p:cNvPicPr>
            <a:picLocks noGrp="1" noChangeAspect="1"/>
          </p:cNvPicPr>
          <p:nvPr>
            <p:ph idx="1"/>
          </p:nvPr>
        </p:nvPicPr>
        <p:blipFill>
          <a:blip r:embed="rId2"/>
          <a:stretch>
            <a:fillRect/>
          </a:stretch>
        </p:blipFill>
        <p:spPr>
          <a:xfrm>
            <a:off x="0" y="119380"/>
            <a:ext cx="7239000" cy="4292600"/>
          </a:xfrm>
          <a:prstGeom prst="rect">
            <a:avLst/>
          </a:prstGeom>
        </p:spPr>
      </p:pic>
      <p:sp>
        <p:nvSpPr>
          <p:cNvPr id="6" name="TextBox 5">
            <a:extLst>
              <a:ext uri="{FF2B5EF4-FFF2-40B4-BE49-F238E27FC236}">
                <a16:creationId xmlns:a16="http://schemas.microsoft.com/office/drawing/2014/main" id="{F5E3702B-9379-F247-8CF7-5541E06C4153}"/>
              </a:ext>
            </a:extLst>
          </p:cNvPr>
          <p:cNvSpPr txBox="1"/>
          <p:nvPr/>
        </p:nvSpPr>
        <p:spPr>
          <a:xfrm>
            <a:off x="8809673" y="331391"/>
            <a:ext cx="2932747" cy="4801314"/>
          </a:xfrm>
          <a:prstGeom prst="rect">
            <a:avLst/>
          </a:prstGeom>
          <a:noFill/>
        </p:spPr>
        <p:txBody>
          <a:bodyPr wrap="square">
            <a:spAutoFit/>
          </a:bodyPr>
          <a:lstStyle/>
          <a:p>
            <a:r>
              <a:rPr lang="en-GB" b="1" dirty="0"/>
              <a:t>Query 2: </a:t>
            </a:r>
            <a:r>
              <a:rPr lang="en-GB" b="1" dirty="0" err="1"/>
              <a:t>Avg</a:t>
            </a:r>
            <a:r>
              <a:rPr lang="en-GB" b="1" dirty="0"/>
              <a:t> Delay &amp; Satisfaction</a:t>
            </a:r>
            <a:endParaRPr lang="en-GB" dirty="0"/>
          </a:p>
          <a:p>
            <a:pPr>
              <a:buFont typeface="Arial" panose="020B0604020202020204" pitchFamily="34" charset="0"/>
              <a:buChar char="•"/>
            </a:pPr>
            <a:r>
              <a:rPr lang="en-GB" dirty="0"/>
              <a:t>“This query pairs delays with satisfaction, revealing trade-offs between speed and client happiness. It supports the earlier pivot finding that shorter delays don’t always translate to higher satisfaction, as seen in the South region.”</a:t>
            </a:r>
          </a:p>
          <a:p>
            <a:pPr>
              <a:buFont typeface="Arial" panose="020B0604020202020204" pitchFamily="34" charset="0"/>
              <a:buChar char="•"/>
            </a:pPr>
            <a:r>
              <a:rPr lang="en-GB" dirty="0"/>
              <a:t>“Energy projects show higher satisfaction despite varying delays, reinforcing the importance of quality outcomes beyond mere timelines.”</a:t>
            </a:r>
          </a:p>
        </p:txBody>
      </p:sp>
    </p:spTree>
    <p:extLst>
      <p:ext uri="{BB962C8B-B14F-4D97-AF65-F5344CB8AC3E}">
        <p14:creationId xmlns:p14="http://schemas.microsoft.com/office/powerpoint/2010/main" val="558493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E9FFB1-222A-C942-8BBF-E3D938974888}"/>
              </a:ext>
            </a:extLst>
          </p:cNvPr>
          <p:cNvPicPr>
            <a:picLocks noGrp="1" noChangeAspect="1"/>
          </p:cNvPicPr>
          <p:nvPr>
            <p:ph idx="1"/>
          </p:nvPr>
        </p:nvPicPr>
        <p:blipFill>
          <a:blip r:embed="rId2"/>
          <a:stretch>
            <a:fillRect/>
          </a:stretch>
        </p:blipFill>
        <p:spPr>
          <a:xfrm>
            <a:off x="0" y="784384"/>
            <a:ext cx="3479800" cy="3759200"/>
          </a:xfrm>
          <a:prstGeom prst="rect">
            <a:avLst/>
          </a:prstGeom>
        </p:spPr>
      </p:pic>
      <p:sp>
        <p:nvSpPr>
          <p:cNvPr id="6" name="TextBox 5">
            <a:extLst>
              <a:ext uri="{FF2B5EF4-FFF2-40B4-BE49-F238E27FC236}">
                <a16:creationId xmlns:a16="http://schemas.microsoft.com/office/drawing/2014/main" id="{FC1E9695-913C-8F47-AE8B-419EB32355EE}"/>
              </a:ext>
            </a:extLst>
          </p:cNvPr>
          <p:cNvSpPr txBox="1"/>
          <p:nvPr/>
        </p:nvSpPr>
        <p:spPr>
          <a:xfrm>
            <a:off x="5014913" y="1054507"/>
            <a:ext cx="6097904" cy="1754326"/>
          </a:xfrm>
          <a:prstGeom prst="rect">
            <a:avLst/>
          </a:prstGeom>
          <a:noFill/>
        </p:spPr>
        <p:txBody>
          <a:bodyPr wrap="square">
            <a:spAutoFit/>
          </a:bodyPr>
          <a:lstStyle/>
          <a:p>
            <a:r>
              <a:rPr lang="en-GB" b="1" dirty="0"/>
              <a:t>Query 3: Max Delay Project</a:t>
            </a:r>
            <a:endParaRPr lang="en-GB" dirty="0"/>
          </a:p>
          <a:p>
            <a:pPr>
              <a:buFont typeface="Arial" panose="020B0604020202020204" pitchFamily="34" charset="0"/>
              <a:buChar char="•"/>
            </a:pPr>
            <a:r>
              <a:rPr lang="en-GB" dirty="0"/>
              <a:t>“Identifying the project with the maximum delay allows targeted analysis for schedule mitigation. This mirrors pivot table findings where the North region had the longest delays (114 days), indicating potential process or resource bottlenecks.”</a:t>
            </a:r>
          </a:p>
        </p:txBody>
      </p:sp>
    </p:spTree>
    <p:extLst>
      <p:ext uri="{BB962C8B-B14F-4D97-AF65-F5344CB8AC3E}">
        <p14:creationId xmlns:p14="http://schemas.microsoft.com/office/powerpoint/2010/main" val="1866539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EC34-7075-E543-B523-921DC52609E3}"/>
              </a:ext>
            </a:extLst>
          </p:cNvPr>
          <p:cNvPicPr>
            <a:picLocks noChangeAspect="1"/>
          </p:cNvPicPr>
          <p:nvPr/>
        </p:nvPicPr>
        <p:blipFill>
          <a:blip r:embed="rId2"/>
          <a:stretch>
            <a:fillRect/>
          </a:stretch>
        </p:blipFill>
        <p:spPr>
          <a:xfrm>
            <a:off x="0" y="0"/>
            <a:ext cx="7353300" cy="3771900"/>
          </a:xfrm>
          <a:prstGeom prst="rect">
            <a:avLst/>
          </a:prstGeom>
        </p:spPr>
      </p:pic>
      <p:sp>
        <p:nvSpPr>
          <p:cNvPr id="6" name="TextBox 5">
            <a:extLst>
              <a:ext uri="{FF2B5EF4-FFF2-40B4-BE49-F238E27FC236}">
                <a16:creationId xmlns:a16="http://schemas.microsoft.com/office/drawing/2014/main" id="{466F75BD-E549-E24C-ABF0-ED2AD7EA3F9B}"/>
              </a:ext>
            </a:extLst>
          </p:cNvPr>
          <p:cNvSpPr txBox="1"/>
          <p:nvPr/>
        </p:nvSpPr>
        <p:spPr>
          <a:xfrm>
            <a:off x="5060633" y="4404836"/>
            <a:ext cx="6097904" cy="1477328"/>
          </a:xfrm>
          <a:prstGeom prst="rect">
            <a:avLst/>
          </a:prstGeom>
          <a:noFill/>
        </p:spPr>
        <p:txBody>
          <a:bodyPr wrap="square">
            <a:spAutoFit/>
          </a:bodyPr>
          <a:lstStyle/>
          <a:p>
            <a:r>
              <a:rPr lang="en-GB" b="1" dirty="0"/>
              <a:t>Query 4: Max % Over Budget</a:t>
            </a:r>
            <a:endParaRPr lang="en-GB" dirty="0"/>
          </a:p>
          <a:p>
            <a:pPr>
              <a:buFont typeface="Arial" panose="020B0604020202020204" pitchFamily="34" charset="0"/>
              <a:buChar char="•"/>
            </a:pPr>
            <a:r>
              <a:rPr lang="en-GB" dirty="0"/>
              <a:t>“Finding the project with the highest percentage over budget flags extreme outliers, similar to the Wales Transport project with a 613% overrun in the pivot table. These projects need priority attention for risk management and client reporting.”</a:t>
            </a:r>
          </a:p>
        </p:txBody>
      </p:sp>
    </p:spTree>
    <p:extLst>
      <p:ext uri="{BB962C8B-B14F-4D97-AF65-F5344CB8AC3E}">
        <p14:creationId xmlns:p14="http://schemas.microsoft.com/office/powerpoint/2010/main" val="2549575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C1E75B-8160-9943-993F-2D065A0AF309}"/>
              </a:ext>
            </a:extLst>
          </p:cNvPr>
          <p:cNvSpPr txBox="1"/>
          <p:nvPr/>
        </p:nvSpPr>
        <p:spPr>
          <a:xfrm>
            <a:off x="2831783" y="1984057"/>
            <a:ext cx="6097904" cy="646331"/>
          </a:xfrm>
          <a:prstGeom prst="rect">
            <a:avLst/>
          </a:prstGeom>
          <a:noFill/>
        </p:spPr>
        <p:txBody>
          <a:bodyPr wrap="square">
            <a:spAutoFit/>
          </a:bodyPr>
          <a:lstStyle/>
          <a:p>
            <a:pPr algn="ctr"/>
            <a:r>
              <a:rPr lang="en-GB" b="1" i="1" u="sng" dirty="0"/>
              <a:t>Transport Infrastructure Cost &amp; Delivery Performance</a:t>
            </a:r>
          </a:p>
          <a:p>
            <a:pPr algn="ctr"/>
            <a:r>
              <a:rPr lang="en-GB" b="1" i="1" u="sng" dirty="0"/>
              <a:t>Mott MacDonald — Wales (2025)</a:t>
            </a:r>
            <a:endParaRPr lang="en-US" b="1" i="1" u="sng" dirty="0"/>
          </a:p>
        </p:txBody>
      </p:sp>
      <p:sp>
        <p:nvSpPr>
          <p:cNvPr id="7" name="TextBox 6">
            <a:extLst>
              <a:ext uri="{FF2B5EF4-FFF2-40B4-BE49-F238E27FC236}">
                <a16:creationId xmlns:a16="http://schemas.microsoft.com/office/drawing/2014/main" id="{DAAB5EEA-45C2-4747-AE88-23B8CF4D43E5}"/>
              </a:ext>
            </a:extLst>
          </p:cNvPr>
          <p:cNvSpPr txBox="1"/>
          <p:nvPr/>
        </p:nvSpPr>
        <p:spPr>
          <a:xfrm>
            <a:off x="2934653" y="3608755"/>
            <a:ext cx="6097904" cy="646331"/>
          </a:xfrm>
          <a:prstGeom prst="rect">
            <a:avLst/>
          </a:prstGeom>
          <a:noFill/>
        </p:spPr>
        <p:txBody>
          <a:bodyPr wrap="square">
            <a:spAutoFit/>
          </a:bodyPr>
          <a:lstStyle/>
          <a:p>
            <a:pPr algn="ctr"/>
            <a:r>
              <a:rPr lang="en-GB" b="1" i="1" u="sng" dirty="0"/>
              <a:t>Data-driven analysis of cost variance, delivery delays and stakeholder satisfaction.</a:t>
            </a:r>
          </a:p>
        </p:txBody>
      </p:sp>
    </p:spTree>
    <p:extLst>
      <p:ext uri="{BB962C8B-B14F-4D97-AF65-F5344CB8AC3E}">
        <p14:creationId xmlns:p14="http://schemas.microsoft.com/office/powerpoint/2010/main" val="3853195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19623A-EC58-8F47-B63A-FC14CDF4FA61}"/>
              </a:ext>
            </a:extLst>
          </p:cNvPr>
          <p:cNvSpPr txBox="1"/>
          <p:nvPr/>
        </p:nvSpPr>
        <p:spPr>
          <a:xfrm>
            <a:off x="2831783" y="681037"/>
            <a:ext cx="6097904" cy="461665"/>
          </a:xfrm>
          <a:prstGeom prst="rect">
            <a:avLst/>
          </a:prstGeom>
          <a:noFill/>
        </p:spPr>
        <p:txBody>
          <a:bodyPr wrap="square">
            <a:spAutoFit/>
          </a:bodyPr>
          <a:lstStyle/>
          <a:p>
            <a:pPr algn="ctr">
              <a:defRPr sz="2400"/>
            </a:pPr>
            <a:r>
              <a:rPr lang="en-GB" b="1" i="1" u="sng" dirty="0"/>
              <a:t>Average Cost Variance by Sector</a:t>
            </a:r>
          </a:p>
        </p:txBody>
      </p:sp>
      <p:pic>
        <p:nvPicPr>
          <p:cNvPr id="7" name="Picture 6">
            <a:extLst>
              <a:ext uri="{FF2B5EF4-FFF2-40B4-BE49-F238E27FC236}">
                <a16:creationId xmlns:a16="http://schemas.microsoft.com/office/drawing/2014/main" id="{1FB8B0F0-66BE-EA42-A823-559282C79AC3}"/>
              </a:ext>
            </a:extLst>
          </p:cNvPr>
          <p:cNvPicPr>
            <a:picLocks noChangeAspect="1"/>
          </p:cNvPicPr>
          <p:nvPr/>
        </p:nvPicPr>
        <p:blipFill>
          <a:blip r:embed="rId2"/>
          <a:stretch>
            <a:fillRect/>
          </a:stretch>
        </p:blipFill>
        <p:spPr>
          <a:xfrm>
            <a:off x="2438400" y="1600200"/>
            <a:ext cx="7315200" cy="3657600"/>
          </a:xfrm>
          <a:prstGeom prst="rect">
            <a:avLst/>
          </a:prstGeom>
        </p:spPr>
      </p:pic>
    </p:spTree>
    <p:extLst>
      <p:ext uri="{BB962C8B-B14F-4D97-AF65-F5344CB8AC3E}">
        <p14:creationId xmlns:p14="http://schemas.microsoft.com/office/powerpoint/2010/main" val="3214105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493E88-080D-694E-BF99-1CC12A94C620}"/>
              </a:ext>
            </a:extLst>
          </p:cNvPr>
          <p:cNvSpPr txBox="1"/>
          <p:nvPr/>
        </p:nvSpPr>
        <p:spPr>
          <a:xfrm>
            <a:off x="3047048" y="523548"/>
            <a:ext cx="6097904" cy="461665"/>
          </a:xfrm>
          <a:prstGeom prst="rect">
            <a:avLst/>
          </a:prstGeom>
          <a:noFill/>
        </p:spPr>
        <p:txBody>
          <a:bodyPr wrap="square">
            <a:spAutoFit/>
          </a:bodyPr>
          <a:lstStyle/>
          <a:p>
            <a:pPr algn="ctr">
              <a:defRPr sz="2400"/>
            </a:pPr>
            <a:r>
              <a:rPr lang="en-GB" b="1" i="1" u="sng" dirty="0"/>
              <a:t>Volatility in Cost Variance by Sector (Std Dev)</a:t>
            </a:r>
          </a:p>
        </p:txBody>
      </p:sp>
      <p:pic>
        <p:nvPicPr>
          <p:cNvPr id="7" name="Picture 6">
            <a:extLst>
              <a:ext uri="{FF2B5EF4-FFF2-40B4-BE49-F238E27FC236}">
                <a16:creationId xmlns:a16="http://schemas.microsoft.com/office/drawing/2014/main" id="{E935E2B4-54A6-5644-9507-27CA8BA352B7}"/>
              </a:ext>
            </a:extLst>
          </p:cNvPr>
          <p:cNvPicPr>
            <a:picLocks noChangeAspect="1"/>
          </p:cNvPicPr>
          <p:nvPr/>
        </p:nvPicPr>
        <p:blipFill>
          <a:blip r:embed="rId2"/>
          <a:stretch>
            <a:fillRect/>
          </a:stretch>
        </p:blipFill>
        <p:spPr>
          <a:xfrm>
            <a:off x="2438400" y="1600200"/>
            <a:ext cx="7315200" cy="3657600"/>
          </a:xfrm>
          <a:prstGeom prst="rect">
            <a:avLst/>
          </a:prstGeom>
        </p:spPr>
      </p:pic>
    </p:spTree>
    <p:extLst>
      <p:ext uri="{BB962C8B-B14F-4D97-AF65-F5344CB8AC3E}">
        <p14:creationId xmlns:p14="http://schemas.microsoft.com/office/powerpoint/2010/main" val="32389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CA4F3A-3A37-424A-9D53-E10300F7E20E}"/>
              </a:ext>
            </a:extLst>
          </p:cNvPr>
          <p:cNvSpPr txBox="1"/>
          <p:nvPr/>
        </p:nvSpPr>
        <p:spPr>
          <a:xfrm>
            <a:off x="2397443" y="580698"/>
            <a:ext cx="6097904" cy="461665"/>
          </a:xfrm>
          <a:prstGeom prst="rect">
            <a:avLst/>
          </a:prstGeom>
          <a:noFill/>
        </p:spPr>
        <p:txBody>
          <a:bodyPr wrap="square">
            <a:spAutoFit/>
          </a:bodyPr>
          <a:lstStyle/>
          <a:p>
            <a:pPr algn="ctr">
              <a:defRPr sz="2400"/>
            </a:pPr>
            <a:r>
              <a:rPr lang="en-GB" b="1" i="1" u="sng" dirty="0"/>
              <a:t>Delay vs Satisfaction</a:t>
            </a:r>
          </a:p>
        </p:txBody>
      </p:sp>
      <p:pic>
        <p:nvPicPr>
          <p:cNvPr id="7" name="Picture 6">
            <a:extLst>
              <a:ext uri="{FF2B5EF4-FFF2-40B4-BE49-F238E27FC236}">
                <a16:creationId xmlns:a16="http://schemas.microsoft.com/office/drawing/2014/main" id="{503966D8-245A-8B41-8096-341212400639}"/>
              </a:ext>
            </a:extLst>
          </p:cNvPr>
          <p:cNvPicPr>
            <a:picLocks noChangeAspect="1"/>
          </p:cNvPicPr>
          <p:nvPr/>
        </p:nvPicPr>
        <p:blipFill>
          <a:blip r:embed="rId2"/>
          <a:stretch>
            <a:fillRect/>
          </a:stretch>
        </p:blipFill>
        <p:spPr>
          <a:xfrm>
            <a:off x="1788795" y="1264920"/>
            <a:ext cx="7315200" cy="4876800"/>
          </a:xfrm>
          <a:prstGeom prst="rect">
            <a:avLst/>
          </a:prstGeom>
        </p:spPr>
      </p:pic>
    </p:spTree>
    <p:extLst>
      <p:ext uri="{BB962C8B-B14F-4D97-AF65-F5344CB8AC3E}">
        <p14:creationId xmlns:p14="http://schemas.microsoft.com/office/powerpoint/2010/main" val="1290827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66B1F4-E89F-4741-AEED-DE79828D3697}"/>
              </a:ext>
            </a:extLst>
          </p:cNvPr>
          <p:cNvSpPr txBox="1"/>
          <p:nvPr/>
        </p:nvSpPr>
        <p:spPr>
          <a:xfrm>
            <a:off x="2763203" y="386388"/>
            <a:ext cx="6097904" cy="461665"/>
          </a:xfrm>
          <a:prstGeom prst="rect">
            <a:avLst/>
          </a:prstGeom>
          <a:noFill/>
        </p:spPr>
        <p:txBody>
          <a:bodyPr wrap="square">
            <a:spAutoFit/>
          </a:bodyPr>
          <a:lstStyle/>
          <a:p>
            <a:pPr algn="ctr">
              <a:defRPr sz="2400"/>
            </a:pPr>
            <a:r>
              <a:rPr lang="en-GB" b="1" i="1" u="sng" dirty="0"/>
              <a:t>Distribution of Project Delays (days)</a:t>
            </a:r>
          </a:p>
        </p:txBody>
      </p:sp>
      <p:pic>
        <p:nvPicPr>
          <p:cNvPr id="8" name="Picture 7">
            <a:extLst>
              <a:ext uri="{FF2B5EF4-FFF2-40B4-BE49-F238E27FC236}">
                <a16:creationId xmlns:a16="http://schemas.microsoft.com/office/drawing/2014/main" id="{6F24A2A5-CBCC-EA4A-8928-F31D056DA4B9}"/>
              </a:ext>
            </a:extLst>
          </p:cNvPr>
          <p:cNvPicPr>
            <a:picLocks noChangeAspect="1"/>
          </p:cNvPicPr>
          <p:nvPr/>
        </p:nvPicPr>
        <p:blipFill>
          <a:blip r:embed="rId2"/>
          <a:stretch>
            <a:fillRect/>
          </a:stretch>
        </p:blipFill>
        <p:spPr>
          <a:xfrm>
            <a:off x="1981200" y="1771650"/>
            <a:ext cx="7315200" cy="3657600"/>
          </a:xfrm>
          <a:prstGeom prst="rect">
            <a:avLst/>
          </a:prstGeom>
        </p:spPr>
      </p:pic>
    </p:spTree>
    <p:extLst>
      <p:ext uri="{BB962C8B-B14F-4D97-AF65-F5344CB8AC3E}">
        <p14:creationId xmlns:p14="http://schemas.microsoft.com/office/powerpoint/2010/main" val="3601265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DA8738A-308C-9B4D-9AAF-6C1EAA5B37EF}"/>
              </a:ext>
            </a:extLst>
          </p:cNvPr>
          <p:cNvSpPr txBox="1"/>
          <p:nvPr/>
        </p:nvSpPr>
        <p:spPr>
          <a:xfrm>
            <a:off x="2477452" y="856893"/>
            <a:ext cx="9143047" cy="5355312"/>
          </a:xfrm>
          <a:prstGeom prst="rect">
            <a:avLst/>
          </a:prstGeom>
          <a:noFill/>
        </p:spPr>
        <p:txBody>
          <a:bodyPr wrap="square">
            <a:spAutoFit/>
          </a:bodyPr>
          <a:lstStyle/>
          <a:p>
            <a:r>
              <a:rPr lang="en-GB" b="1" dirty="0"/>
              <a:t>1. Cost Control &amp; Forecasting</a:t>
            </a:r>
          </a:p>
          <a:p>
            <a:pPr>
              <a:buFont typeface="Arial" panose="020B0604020202020204" pitchFamily="34" charset="0"/>
              <a:buChar char="•"/>
            </a:pPr>
            <a:r>
              <a:rPr lang="en-GB" dirty="0"/>
              <a:t>Implement </a:t>
            </a:r>
            <a:r>
              <a:rPr lang="en-GB" b="1" dirty="0"/>
              <a:t>risk-weighted budgeting</a:t>
            </a:r>
            <a:r>
              <a:rPr lang="en-GB" dirty="0"/>
              <a:t> to account for sector volatility.</a:t>
            </a:r>
          </a:p>
          <a:p>
            <a:pPr>
              <a:buFont typeface="Arial" panose="020B0604020202020204" pitchFamily="34" charset="0"/>
              <a:buChar char="•"/>
            </a:pPr>
            <a:r>
              <a:rPr lang="en-GB" dirty="0"/>
              <a:t>Strengthen </a:t>
            </a:r>
            <a:r>
              <a:rPr lang="en-GB" b="1" dirty="0"/>
              <a:t>early-stage cost estimation</a:t>
            </a:r>
            <a:r>
              <a:rPr lang="en-GB" dirty="0"/>
              <a:t> using historical variance data.</a:t>
            </a:r>
          </a:p>
          <a:p>
            <a:pPr>
              <a:buFont typeface="Arial" panose="020B0604020202020204" pitchFamily="34" charset="0"/>
              <a:buChar char="•"/>
            </a:pPr>
            <a:r>
              <a:rPr lang="en-GB" dirty="0"/>
              <a:t>Flag high-risk projects (e.g., Wales Transport) for </a:t>
            </a:r>
            <a:r>
              <a:rPr lang="en-GB" b="1" dirty="0"/>
              <a:t>pre-emptive financial review</a:t>
            </a:r>
            <a:r>
              <a:rPr lang="en-GB" dirty="0"/>
              <a:t>.</a:t>
            </a:r>
          </a:p>
          <a:p>
            <a:endParaRPr lang="en-GB" dirty="0"/>
          </a:p>
          <a:p>
            <a:r>
              <a:rPr lang="en-GB" b="1" dirty="0"/>
              <a:t>2. Schedule Assurance</a:t>
            </a:r>
          </a:p>
          <a:p>
            <a:pPr>
              <a:buFont typeface="Arial" panose="020B0604020202020204" pitchFamily="34" charset="0"/>
              <a:buChar char="•"/>
            </a:pPr>
            <a:r>
              <a:rPr lang="en-GB" dirty="0"/>
              <a:t>Introduce </a:t>
            </a:r>
            <a:r>
              <a:rPr lang="en-GB" b="1" dirty="0"/>
              <a:t>mid-project governance gates</a:t>
            </a:r>
            <a:r>
              <a:rPr lang="en-GB" dirty="0"/>
              <a:t> to catch slippage early.</a:t>
            </a:r>
          </a:p>
          <a:p>
            <a:pPr>
              <a:buFont typeface="Arial" panose="020B0604020202020204" pitchFamily="34" charset="0"/>
              <a:buChar char="•"/>
            </a:pPr>
            <a:r>
              <a:rPr lang="en-GB" dirty="0"/>
              <a:t>Use </a:t>
            </a:r>
            <a:r>
              <a:rPr lang="en-GB" b="1" dirty="0"/>
              <a:t>delay benchmarks</a:t>
            </a:r>
            <a:r>
              <a:rPr lang="en-GB" dirty="0"/>
              <a:t> (e.g., 90+ days) to trigger escalation protocols.</a:t>
            </a:r>
          </a:p>
          <a:p>
            <a:pPr>
              <a:buFont typeface="Arial" panose="020B0604020202020204" pitchFamily="34" charset="0"/>
              <a:buChar char="•"/>
            </a:pPr>
            <a:r>
              <a:rPr lang="en-GB" dirty="0"/>
              <a:t>Prioritize </a:t>
            </a:r>
            <a:r>
              <a:rPr lang="en-GB" b="1" dirty="0"/>
              <a:t>resource reallocation</a:t>
            </a:r>
            <a:r>
              <a:rPr lang="en-GB" dirty="0"/>
              <a:t> to regions with persistent overruns (e.g., North).</a:t>
            </a:r>
          </a:p>
          <a:p>
            <a:endParaRPr lang="en-GB" dirty="0"/>
          </a:p>
          <a:p>
            <a:r>
              <a:rPr lang="en-GB" b="1" dirty="0"/>
              <a:t>3. Stakeholder Satisfaction</a:t>
            </a:r>
          </a:p>
          <a:p>
            <a:pPr>
              <a:buFont typeface="Arial" panose="020B0604020202020204" pitchFamily="34" charset="0"/>
              <a:buChar char="•"/>
            </a:pPr>
            <a:r>
              <a:rPr lang="en-GB" dirty="0"/>
              <a:t>Monitor </a:t>
            </a:r>
            <a:r>
              <a:rPr lang="en-GB" b="1" dirty="0"/>
              <a:t>satisfaction scores continuously</a:t>
            </a:r>
            <a:r>
              <a:rPr lang="en-GB" dirty="0"/>
              <a:t>, especially on delayed projects.</a:t>
            </a:r>
          </a:p>
          <a:p>
            <a:pPr>
              <a:buFont typeface="Arial" panose="020B0604020202020204" pitchFamily="34" charset="0"/>
              <a:buChar char="•"/>
            </a:pPr>
            <a:r>
              <a:rPr lang="en-GB" dirty="0"/>
              <a:t>Identify </a:t>
            </a:r>
            <a:r>
              <a:rPr lang="en-GB" b="1" dirty="0"/>
              <a:t>delay thresholds</a:t>
            </a:r>
            <a:r>
              <a:rPr lang="en-GB" dirty="0"/>
              <a:t> where satisfaction drops (e.g., ~180 days).</a:t>
            </a:r>
          </a:p>
          <a:p>
            <a:pPr>
              <a:buFont typeface="Arial" panose="020B0604020202020204" pitchFamily="34" charset="0"/>
              <a:buChar char="•"/>
            </a:pPr>
            <a:r>
              <a:rPr lang="en-GB" dirty="0"/>
              <a:t>Focus on </a:t>
            </a:r>
            <a:r>
              <a:rPr lang="en-GB" b="1" dirty="0"/>
              <a:t>quality outcomes</a:t>
            </a:r>
            <a:r>
              <a:rPr lang="en-GB" dirty="0"/>
              <a:t>, not just speed — as seen in Energy sector success.</a:t>
            </a:r>
          </a:p>
          <a:p>
            <a:endParaRPr lang="en-GB" dirty="0"/>
          </a:p>
          <a:p>
            <a:r>
              <a:rPr lang="en-GB" b="1" dirty="0"/>
              <a:t>4. Predictive Analytics &amp; Reporting</a:t>
            </a:r>
          </a:p>
          <a:p>
            <a:pPr>
              <a:buFont typeface="Arial" panose="020B0604020202020204" pitchFamily="34" charset="0"/>
              <a:buChar char="•"/>
            </a:pPr>
            <a:r>
              <a:rPr lang="en-GB" dirty="0"/>
              <a:t>Build a </a:t>
            </a:r>
            <a:r>
              <a:rPr lang="en-GB" b="1" dirty="0"/>
              <a:t>dashboard (Power BI)</a:t>
            </a:r>
            <a:r>
              <a:rPr lang="en-GB" dirty="0"/>
              <a:t> to track cost, delay, and satisfaction in real time.</a:t>
            </a:r>
          </a:p>
          <a:p>
            <a:pPr>
              <a:buFont typeface="Arial" panose="020B0604020202020204" pitchFamily="34" charset="0"/>
              <a:buChar char="•"/>
            </a:pPr>
            <a:r>
              <a:rPr lang="en-GB" dirty="0"/>
              <a:t>Use </a:t>
            </a:r>
            <a:r>
              <a:rPr lang="en-GB" b="1" dirty="0"/>
              <a:t>SQL-driven alerts</a:t>
            </a:r>
            <a:r>
              <a:rPr lang="en-GB" dirty="0"/>
              <a:t> to flag outliers in cost or schedule.</a:t>
            </a:r>
          </a:p>
          <a:p>
            <a:pPr>
              <a:buFont typeface="Arial" panose="020B0604020202020204" pitchFamily="34" charset="0"/>
              <a:buChar char="•"/>
            </a:pPr>
            <a:r>
              <a:rPr lang="en-GB" dirty="0"/>
              <a:t>Share </a:t>
            </a:r>
            <a:r>
              <a:rPr lang="en-GB" b="1" dirty="0"/>
              <a:t>monthly insights</a:t>
            </a:r>
            <a:r>
              <a:rPr lang="en-GB" dirty="0"/>
              <a:t> with leadership for proactive decision-making.</a:t>
            </a:r>
          </a:p>
        </p:txBody>
      </p:sp>
      <p:sp>
        <p:nvSpPr>
          <p:cNvPr id="11" name="TextBox 10">
            <a:extLst>
              <a:ext uri="{FF2B5EF4-FFF2-40B4-BE49-F238E27FC236}">
                <a16:creationId xmlns:a16="http://schemas.microsoft.com/office/drawing/2014/main" id="{F097F026-5C33-154A-87CF-82FF8A26BB8F}"/>
              </a:ext>
            </a:extLst>
          </p:cNvPr>
          <p:cNvSpPr txBox="1"/>
          <p:nvPr/>
        </p:nvSpPr>
        <p:spPr>
          <a:xfrm>
            <a:off x="2808923" y="0"/>
            <a:ext cx="6097904" cy="646331"/>
          </a:xfrm>
          <a:prstGeom prst="rect">
            <a:avLst/>
          </a:prstGeom>
          <a:noFill/>
        </p:spPr>
        <p:txBody>
          <a:bodyPr wrap="square">
            <a:spAutoFit/>
          </a:bodyPr>
          <a:lstStyle/>
          <a:p>
            <a:pPr algn="ctr"/>
            <a:r>
              <a:rPr lang="en-GB" b="1" i="1" u="sng" dirty="0"/>
              <a:t>Strategic Recommendations for Transport Portfolio Improvement</a:t>
            </a:r>
          </a:p>
        </p:txBody>
      </p:sp>
    </p:spTree>
    <p:extLst>
      <p:ext uri="{BB962C8B-B14F-4D97-AF65-F5344CB8AC3E}">
        <p14:creationId xmlns:p14="http://schemas.microsoft.com/office/powerpoint/2010/main" val="2449216315"/>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{1EA98599-5ED3-C440-9C3D-494DBFE8782D}tf10001073</Template>
  <TotalTime>27371</TotalTime>
  <Words>627</Words>
  <Application>Microsoft Macintosh PowerPoint</Application>
  <PresentationFormat>Widescreen</PresentationFormat>
  <Paragraphs>49</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Tw Cen MT</vt:lpstr>
      <vt:lpstr>Droplet</vt:lpstr>
      <vt:lpstr>PowerPoint Presentation</vt:lpstr>
      <vt:lpstr>Executive Summary</vt:lpstr>
      <vt:lpstr> Project Cost, Delivery &amp; Satisfaction Analysis Subtitle: Insights Across Sectors and Regions for Mott MacDonald Infrastructure Portfolio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Mockup Project of the Pivot Tables (Mott Macdonald 2025) </dc:title>
  <dc:creator>Microsoft Office User</dc:creator>
  <cp:lastModifiedBy>Microsoft Office User</cp:lastModifiedBy>
  <cp:revision>5</cp:revision>
  <dcterms:created xsi:type="dcterms:W3CDTF">2025-10-29T12:31:52Z</dcterms:created>
  <dcterms:modified xsi:type="dcterms:W3CDTF">2025-11-18T12:54:30Z</dcterms:modified>
</cp:coreProperties>
</file>